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VOYAGE, a travel agency web application I built with Django. Introduce yourself, your department, your college and your guide, Prof. Titiksha Zope.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VOYAGE brings destination discovery, tour packages, booking and user accounts into one premium-looking website. The data lives in a database and Django connects it to the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planning a trip means jumping between sites. VOYAGE answers that with one place for discovery, booking and account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objectives: a working site, destination and tour pages, accounts and bookings, data managed through Django, and a premium user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brand is warm ivory, muted gold and charcoal, with elegant serif type. Everything on the site follows the same visual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split into two groups: what a traveller can do on the site, and what an administrator can manage through the Django Admin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conventional full-stack setup. Django is the core: it connects the interface to the database and provides routing, authentication, forms and the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request: the browser asks for a page, Django routes it to a view, the view uses models to read or write the database, a template renders the HTML, and the browser displays it. A booking also validates form data before creating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layout of the project. Tip: you can replace this diagram with a screenshot of your VS Code explorer if you prefer to show the real folders.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model diagram. Before presenting, check the relationships and the Review model against models.py, and replace this slide with your own ER diagram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cue: open the homepage. Point out the hero, the Begin Your Journey call to action, the navigation, the featured destinations grid and the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Destinations come from the database, so adding one in Django Admin makes it appear on the site. Mention search and filtering only if they work in your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tour card shows the starting price, nights and days, and seats left. The detail page adds highlights and a day-by-day journey timeline, then leads into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form is a guided multi-step flow. Django validates the submission and stores the booking in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moves from pending to confirmed: overview, payment, verification and confirmation with a booking reference and invoice. The payment is a simulation; a real gateway is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register and log in, then see a private profile with their journeys. Each confirmed booking appears in the journey archive, with a button to leave a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the Bookings list, where booking, payment and invoice status can be changed from dropdowns. Bottom left: the About page is edited as a form, so site text changes without touching code. Bottom right: contact form messages arrive here. This is Django’s built-in admin, not a custom dashboard. Demo cue: open /admin/, edit a tour, then change a booking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Consistent typography, spacing and colour tie every page together. The supporting pages (About, Contact and Reviews) follow the same visual language as the booking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claim the checks you actually ran. The flow shown in the screenshots worked end to end. Future scope items are not implemented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VOYAGE combines frontend design, Django, database management and booking workflows in one project. Add a sentence on what you learned and what you would improve next,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64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0884"/>
            <a:ext cx="10566400" cy="40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64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0884"/>
            <a:ext cx="10566400" cy="40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YAGE homepage hero with a Gothic tower at dusk">    </p:cNvPr>
          <p:cNvPicPr>
            <a:picLocks noChangeAspect="1"/>
          </p:cNvPicPr>
          <p:nvPr/>
        </p:nvPicPr>
        <p:blipFill>
          <a:blip r:embed="rId1"/>
          <a:srcRect l="26058" r="26058" t="0" b="0"/>
          <a:stretch/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000" y="0"/>
            <a:ext cx="5842000" cy="6858000"/>
          </a:xfrm>
          <a:prstGeom prst="rect">
            <a:avLst/>
          </a:prstGeom>
          <a:gradFill rotWithShape="1">
            <a:gsLst>
              <a:gs pos="0">
                <a:srgbClr val="1C1C1C"/>
              </a:gs>
              <a:gs pos="45000">
                <a:srgbClr val="1C1C1C">
                  <a:alpha val="15000"/>
                </a:srgbClr>
              </a:gs>
              <a:gs pos="100000">
                <a:srgbClr val="1C1C1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3111500"/>
            <a:ext cx="5886450" cy="234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spc="3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PRESENTATION</a:t>
            </a:r>
            <a:endParaRPr lang="en-US" sz="1196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3498056"/>
            <a:ext cx="5886450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69"/>
              </a:lnSpc>
              <a:buNone/>
            </a:pPr>
            <a:r>
              <a:rPr lang="en-US" sz="5869" b="0" i="0" dirty="0">
                <a:solidFill>
                  <a:srgbClr val="F7F3E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Curated </a:t>
            </a:r>
            <a:r>
              <a:rPr lang="en-US" sz="5869" b="0" i="1" dirty="0">
                <a:solidFill>
                  <a:srgbClr val="C9A96E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Journeys</a:t>
            </a:r>
            <a:endParaRPr lang="en-US" sz="5869" dirty="0"/>
          </a:p>
        </p:txBody>
      </p:sp>
      <p:sp>
        <p:nvSpPr>
          <p:cNvPr id="6" name="Text 3"/>
          <p:cNvSpPr/>
          <p:nvPr/>
        </p:nvSpPr>
        <p:spPr>
          <a:xfrm>
            <a:off x="812800" y="4421584"/>
            <a:ext cx="497078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2"/>
              </a:lnSpc>
              <a:buNone/>
            </a:pPr>
            <a:r>
              <a:rPr lang="en-US" sz="158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full-stack travel agency website built with Python and Django.</a:t>
            </a:r>
            <a:endParaRPr lang="en-US" sz="1580" dirty="0"/>
          </a:p>
        </p:txBody>
      </p:sp>
      <p:sp>
        <p:nvSpPr>
          <p:cNvPr id="7" name="Text 4"/>
          <p:cNvSpPr/>
          <p:nvPr/>
        </p:nvSpPr>
        <p:spPr>
          <a:xfrm>
            <a:off x="812800" y="5035550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 Aditya Ramesh Vispute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534543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ITR · Computer Science and Engineering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558419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Godavari College of Engineering and Polytechnic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582295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Guide: Prof. Titiksha Zope</a:t>
            </a:r>
            <a:endParaRPr lang="en-US" sz="1200" dirty="0"/>
          </a:p>
        </p:txBody>
      </p:sp>
      <p:pic>
        <p:nvPicPr>
          <p:cNvPr id="11" name="Image 1" descr="VOYAGE Travel Agency logo">    </p:cNvPr>
          <p:cNvPicPr>
            <a:picLocks noChangeAspect="1"/>
          </p:cNvPicPr>
          <p:nvPr/>
        </p:nvPicPr>
        <p:blipFill>
          <a:blip r:embed="rId2"/>
          <a:srcRect l="0" r="0" t="-4220" b="-4220"/>
          <a:stretch/>
        </p:blipFill>
        <p:spPr>
          <a:xfrm>
            <a:off x="812800" y="812800"/>
            <a:ext cx="4464050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0"/>
            <a:ext cx="41859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198628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1986280"/>
            <a:ext cx="4013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database-driven travel agency website for exploring destinations and tours.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270764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2707640"/>
            <a:ext cx="4013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Travellers can register, book a curated or personalised trip and follow its status.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42900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429000"/>
            <a:ext cx="40132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Django powers the backend; HTML, CSS and JavaScript shape the experience.</a:t>
            </a:r>
            <a:endParaRPr lang="en-US" sz="1600" dirty="0"/>
          </a:p>
        </p:txBody>
      </p:sp>
      <p:pic>
        <p:nvPicPr>
          <p:cNvPr id="10" name="Image 0" descr="VOYAGE homepage hero: Beyond the Horizon">    </p:cNvPr>
          <p:cNvPicPr>
            <a:picLocks noChangeAspect="1"/>
          </p:cNvPicPr>
          <p:nvPr/>
        </p:nvPicPr>
        <p:blipFill>
          <a:blip r:embed="rId1"/>
          <a:srcRect l="0" r="0" t="94" b="94"/>
          <a:stretch/>
        </p:blipFill>
        <p:spPr>
          <a:xfrm>
            <a:off x="5340350" y="819150"/>
            <a:ext cx="6032500" cy="3384550"/>
          </a:xfrm>
          <a:prstGeom prst="roundRect">
            <a:avLst>
              <a:gd name="adj" fmla="val 2064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6000"/>
              </a:srgbClr>
            </a:outerShdw>
          </a:effectLst>
        </p:spPr>
      </p:pic>
      <p:sp>
        <p:nvSpPr>
          <p:cNvPr id="11" name="Shape 8"/>
          <p:cNvSpPr/>
          <p:nvPr/>
        </p:nvSpPr>
        <p:spPr>
          <a:xfrm>
            <a:off x="5337175" y="815975"/>
            <a:ext cx="6038850" cy="3390900"/>
          </a:xfrm>
          <a:prstGeom prst="roundRect">
            <a:avLst>
              <a:gd name="adj" fmla="val 2154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34000" y="4337050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VOYAGE homepage: a cinematic hero with a clear call to action.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08950" y="623824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55"/>
            <a:ext cx="3117850" cy="1604010"/>
          </a:xfrm>
          <a:prstGeom prst="roundRect">
            <a:avLst>
              <a:gd name="adj" fmla="val 7720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94561"/>
            <a:ext cx="273654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 information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514600"/>
            <a:ext cx="273654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details are spread across many platforms.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92575" y="1964055"/>
            <a:ext cx="3117850" cy="1604010"/>
          </a:xfrm>
          <a:prstGeom prst="roundRect">
            <a:avLst>
              <a:gd name="adj" fmla="val 7720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3080" y="2194561"/>
            <a:ext cx="273654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to choose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23080" y="2514600"/>
            <a:ext cx="2736545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Travellers need an easy way to explore destinations and tours.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3726816"/>
            <a:ext cx="3117850" cy="1604010"/>
          </a:xfrm>
          <a:prstGeom prst="roundRect">
            <a:avLst>
              <a:gd name="adj" fmla="val 7720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480" y="3957320"/>
            <a:ext cx="273654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Unorganised bookings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6480" y="4277361"/>
            <a:ext cx="2736545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details and preferences need one clear home.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92575" y="3726816"/>
            <a:ext cx="3117850" cy="1604010"/>
          </a:xfrm>
          <a:prstGeom prst="roundRect">
            <a:avLst>
              <a:gd name="adj" fmla="val 7720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3080" y="3957320"/>
            <a:ext cx="273654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Generic interfaces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23080" y="4277361"/>
            <a:ext cx="2736545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Ordinary sites lack a consistent, engaging experience.</a:t>
            </a:r>
            <a:endParaRPr lang="en-US" sz="1600" dirty="0"/>
          </a:p>
        </p:txBody>
      </p:sp>
      <p:pic>
        <p:nvPicPr>
          <p:cNvPr id="1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67600" y="3469641"/>
            <a:ext cx="609600" cy="355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331200" y="2584450"/>
            <a:ext cx="3048000" cy="2125980"/>
          </a:xfrm>
          <a:prstGeom prst="roundRect">
            <a:avLst>
              <a:gd name="adj" fmla="val 5974"/>
            </a:avLst>
          </a:prstGeom>
          <a:solidFill>
            <a:srgbClr val="1C1C1C"/>
          </a:solidFill>
          <a:ln/>
        </p:spPr>
      </p:sp>
      <p:sp>
        <p:nvSpPr>
          <p:cNvPr id="18" name="Text 15"/>
          <p:cNvSpPr/>
          <p:nvPr/>
        </p:nvSpPr>
        <p:spPr>
          <a:xfrm>
            <a:off x="8636000" y="2889250"/>
            <a:ext cx="25115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36000" y="3229611"/>
            <a:ext cx="251155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dirty="0">
                <a:solidFill>
                  <a:srgbClr val="F7F3E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VOYAGE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8636000" y="3836670"/>
            <a:ext cx="2511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platform to discover, book and manage trips.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08950" y="6238241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/ 20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Project 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14855"/>
            <a:ext cx="1986994" cy="2091690"/>
          </a:xfrm>
          <a:prstGeom prst="roundRect">
            <a:avLst>
              <a:gd name="adj" fmla="val 623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pic>
        <p:nvPicPr>
          <p:cNvPr id="5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2453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778761"/>
            <a:ext cx="1576784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functional travel agency website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61719" y="2014855"/>
            <a:ext cx="1987074" cy="2091690"/>
          </a:xfrm>
          <a:prstGeom prst="roundRect">
            <a:avLst>
              <a:gd name="adj" fmla="val 623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pic>
        <p:nvPicPr>
          <p:cNvPr id="8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92224" y="2245361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92224" y="2778761"/>
            <a:ext cx="1576864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 destinations and tour packages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107543" y="2014855"/>
            <a:ext cx="1986994" cy="2091690"/>
          </a:xfrm>
          <a:prstGeom prst="roundRect">
            <a:avLst>
              <a:gd name="adj" fmla="val 623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pic>
        <p:nvPicPr>
          <p:cNvPr id="11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38048" y="2245361"/>
            <a:ext cx="355600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8048" y="2778761"/>
            <a:ext cx="1576784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accounts and booking workflows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253288" y="2014855"/>
            <a:ext cx="1987074" cy="2091690"/>
          </a:xfrm>
          <a:prstGeom prst="roundRect">
            <a:avLst>
              <a:gd name="adj" fmla="val 623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pic>
        <p:nvPicPr>
          <p:cNvPr id="14" name="Image 3" descr="Databa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83793" y="2245361"/>
            <a:ext cx="355600" cy="355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83793" y="2778761"/>
            <a:ext cx="1576864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website data through Django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395937" y="2011680"/>
            <a:ext cx="1983264" cy="2098040"/>
          </a:xfrm>
          <a:prstGeom prst="roundRect">
            <a:avLst>
              <a:gd name="adj" fmla="val 6404"/>
            </a:avLst>
          </a:prstGeom>
          <a:solidFill>
            <a:srgbClr val="1C1C1C"/>
          </a:solidFill>
          <a:ln/>
        </p:spPr>
      </p:sp>
      <p:pic>
        <p:nvPicPr>
          <p:cNvPr id="17" name="Image 4" descr="Sta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24537" y="2240280"/>
            <a:ext cx="355600" cy="355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24537" y="2773680"/>
            <a:ext cx="1576864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 a consistent, premium experience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108950" y="623823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/ 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1"/>
            <a:ext cx="49707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7F3E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Brand Identity and Design Philosophy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248920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489200"/>
            <a:ext cx="4798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Luxury travel positioning: discovery should feel premium.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3185161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3185161"/>
            <a:ext cx="4798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Elegant serif headlines with clean sans-serif body text.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881121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881121"/>
            <a:ext cx="4798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photography and editorial page composition.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4681857"/>
            <a:ext cx="603250" cy="603250"/>
          </a:xfrm>
          <a:prstGeom prst="roundRect">
            <a:avLst>
              <a:gd name="adj" fmla="val 50000"/>
            </a:avLst>
          </a:prstGeom>
          <a:solidFill>
            <a:srgbClr val="F7F3EC"/>
          </a:solidFill>
          <a:ln w="6350">
            <a:solidFill>
              <a:srgbClr val="CFC8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4800" y="467868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C9A96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36800" y="467868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5150" y="4685032"/>
            <a:ext cx="596900" cy="59690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0800" y="4770121"/>
            <a:ext cx="1701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Ivory · gold · sand · charcoal</a:t>
            </a:r>
            <a:endParaRPr lang="en-US" sz="1200" dirty="0"/>
          </a:p>
        </p:txBody>
      </p:sp>
      <p:pic>
        <p:nvPicPr>
          <p:cNvPr id="15" name="Image 0" descr="VOYAGE destinations page: Explore Extraordinary Places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6096000" y="812800"/>
            <a:ext cx="4902200" cy="2755900"/>
          </a:xfrm>
          <a:prstGeom prst="roundRect">
            <a:avLst>
              <a:gd name="adj" fmla="val 2765"/>
            </a:avLst>
          </a:prstGeom>
        </p:spPr>
      </p:pic>
      <p:pic>
        <p:nvPicPr>
          <p:cNvPr id="16" name="Image 1" descr="VOYAGE homepage hero: Beyond the Horizon">    </p:cNvPr>
          <p:cNvPicPr>
            <a:picLocks noChangeAspect="1"/>
          </p:cNvPicPr>
          <p:nvPr/>
        </p:nvPicPr>
        <p:blipFill>
          <a:blip r:embed="rId2"/>
          <a:srcRect l="0" r="0" t="11516" b="11516"/>
          <a:stretch/>
        </p:blipFill>
        <p:spPr>
          <a:xfrm>
            <a:off x="6096000" y="3721100"/>
            <a:ext cx="4902200" cy="2120900"/>
          </a:xfrm>
          <a:prstGeom prst="roundRect">
            <a:avLst>
              <a:gd name="adj" fmla="val 3593"/>
            </a:avLst>
          </a:prstGeom>
        </p:spPr>
      </p:pic>
      <p:sp>
        <p:nvSpPr>
          <p:cNvPr id="17" name="Text 13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08950" y="623823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/ 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Project Scope and Requirements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57"/>
            <a:ext cx="5180330" cy="2853690"/>
          </a:xfrm>
          <a:prstGeom prst="roundRect">
            <a:avLst>
              <a:gd name="adj" fmla="val 4339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45361"/>
            <a:ext cx="475625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For travellers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58439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destinations and tours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34361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Register, log in and manage a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10282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 a curated or personalised journey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payment and booking status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62121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Leave reviews and ratings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2680" y="1960882"/>
            <a:ext cx="5176520" cy="2860040"/>
          </a:xfrm>
          <a:prstGeom prst="roundRect">
            <a:avLst>
              <a:gd name="adj" fmla="val 4440"/>
            </a:avLst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82080" y="2240282"/>
            <a:ext cx="475625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9A96E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For administrators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82080" y="2753361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destinations and tours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2080" y="3129282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and update bookings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2080" y="3505200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 site content and contact details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82080" y="3881121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 testimonials, blogs and experiences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2080" y="4257039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handled in the Django Admin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08950" y="623823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/ 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0882"/>
            <a:ext cx="2527300" cy="1440180"/>
          </a:xfrm>
          <a:prstGeom prst="roundRect">
            <a:avLst>
              <a:gd name="adj" fmla="val 8818"/>
            </a:avLst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89482"/>
            <a:ext cx="213220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9A96E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Python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613661"/>
            <a:ext cx="213220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programming language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92500" y="1960882"/>
            <a:ext cx="2527300" cy="1440180"/>
          </a:xfrm>
          <a:prstGeom prst="roundRect">
            <a:avLst>
              <a:gd name="adj" fmla="val 8818"/>
            </a:avLst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3721100" y="2189482"/>
            <a:ext cx="213220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9A96E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Django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21100" y="2613661"/>
            <a:ext cx="213220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Routing, views, forms, auth and admin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5375" y="1964057"/>
            <a:ext cx="2520950" cy="1433830"/>
          </a:xfrm>
          <a:prstGeom prst="roundRect">
            <a:avLst>
              <a:gd name="adj" fmla="val 8636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5880" y="2194561"/>
            <a:ext cx="212173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HTML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5880" y="2618739"/>
            <a:ext cx="212173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structure and templates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55075" y="1964057"/>
            <a:ext cx="2520950" cy="1433830"/>
          </a:xfrm>
          <a:prstGeom prst="roundRect">
            <a:avLst>
              <a:gd name="adj" fmla="val 8636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5580" y="2194561"/>
            <a:ext cx="212173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CSS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85580" y="2618739"/>
            <a:ext cx="212173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Styling, layout and effects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975" y="3556636"/>
            <a:ext cx="2520950" cy="1433830"/>
          </a:xfrm>
          <a:prstGeom prst="roundRect">
            <a:avLst>
              <a:gd name="adj" fmla="val 8636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480" y="3787139"/>
            <a:ext cx="212173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JavaScript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46480" y="4211321"/>
            <a:ext cx="212173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components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5675" y="3556636"/>
            <a:ext cx="2520950" cy="1433830"/>
          </a:xfrm>
          <a:prstGeom prst="roundRect">
            <a:avLst>
              <a:gd name="adj" fmla="val 8636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6180" y="3787139"/>
            <a:ext cx="212173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SQLite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26180" y="42113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Relational database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5375" y="3556636"/>
            <a:ext cx="2520950" cy="1433830"/>
          </a:xfrm>
          <a:prstGeom prst="roundRect">
            <a:avLst>
              <a:gd name="adj" fmla="val 8636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5880" y="3787139"/>
            <a:ext cx="212173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Django ORM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5880" y="4211321"/>
            <a:ext cx="212173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models talk to the database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55075" y="3556636"/>
            <a:ext cx="2520950" cy="1433830"/>
          </a:xfrm>
          <a:prstGeom prst="roundRect">
            <a:avLst>
              <a:gd name="adj" fmla="val 8636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5580" y="3787139"/>
            <a:ext cx="212173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Git and GitHub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85580" y="42113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08950" y="6238239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/ 20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65657"/>
            <a:ext cx="1619250" cy="1395730"/>
          </a:xfrm>
          <a:prstGeom prst="roundRect">
            <a:avLst>
              <a:gd name="adj" fmla="val 887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245361"/>
            <a:ext cx="1310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534921"/>
            <a:ext cx="1310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5680" y="2854961"/>
            <a:ext cx="1310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Opens a page or submits a form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649221"/>
            <a:ext cx="355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0375" y="2065657"/>
            <a:ext cx="1619250" cy="1395730"/>
          </a:xfrm>
          <a:prstGeom prst="roundRect">
            <a:avLst>
              <a:gd name="adj" fmla="val 887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0080" y="2245361"/>
            <a:ext cx="1310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80080" y="2534921"/>
            <a:ext cx="1310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80080" y="2854961"/>
            <a:ext cx="1310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 the request to a view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4400" y="2649221"/>
            <a:ext cx="355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84775" y="2065657"/>
            <a:ext cx="1619250" cy="1395730"/>
          </a:xfrm>
          <a:prstGeom prst="roundRect">
            <a:avLst>
              <a:gd name="adj" fmla="val 887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64480" y="2245361"/>
            <a:ext cx="1310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64480" y="2534921"/>
            <a:ext cx="1310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64480" y="2854961"/>
            <a:ext cx="1310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forms and apply logic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08800" y="2649221"/>
            <a:ext cx="355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69175" y="2065657"/>
            <a:ext cx="1619250" cy="1395730"/>
          </a:xfrm>
          <a:prstGeom prst="roundRect">
            <a:avLst>
              <a:gd name="adj" fmla="val 8872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48880" y="2245361"/>
            <a:ext cx="1310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548880" y="2534921"/>
            <a:ext cx="1310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548880" y="2854961"/>
            <a:ext cx="1310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and write through the ORM</a:t>
            </a:r>
            <a:endParaRPr lang="en-US" sz="12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93200" y="2649221"/>
            <a:ext cx="355600" cy="228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50400" y="1960882"/>
            <a:ext cx="1625600" cy="1605280"/>
          </a:xfrm>
          <a:prstGeom prst="roundRect">
            <a:avLst>
              <a:gd name="adj" fmla="val 7911"/>
            </a:avLst>
          </a:prstGeom>
          <a:solidFill>
            <a:srgbClr val="1C1C1C"/>
          </a:solidFill>
          <a:ln/>
        </p:spPr>
      </p:sp>
      <p:sp>
        <p:nvSpPr>
          <p:cNvPr id="25" name="Text 19"/>
          <p:cNvSpPr/>
          <p:nvPr/>
        </p:nvSpPr>
        <p:spPr>
          <a:xfrm>
            <a:off x="9728200" y="213868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728200" y="2428239"/>
            <a:ext cx="13208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728200" y="2748282"/>
            <a:ext cx="13208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the application records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2800" y="3870961"/>
            <a:ext cx="10566400" cy="975360"/>
          </a:xfrm>
          <a:prstGeom prst="roundRect">
            <a:avLst>
              <a:gd name="adj" fmla="val 13021"/>
            </a:avLst>
          </a:prstGeom>
          <a:solidFill>
            <a:srgbClr val="EDE6DA"/>
          </a:solidFill>
          <a:ln/>
        </p:spPr>
      </p:sp>
      <p:pic>
        <p:nvPicPr>
          <p:cNvPr id="29" name="Image 4" descr="arrow-lef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6800" y="4206242"/>
            <a:ext cx="609600" cy="3048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879600" y="4074164"/>
            <a:ext cx="952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Response:</a:t>
            </a:r>
            <a:r>
              <a: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Django renders a template with the data, and the browser shows it with CSS and JavaScript.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/ 20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4"/>
            <a:ext cx="405511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Django Project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2489200"/>
            <a:ext cx="0" cy="284480"/>
          </a:xfrm>
          <a:prstGeom prst="line">
            <a:avLst/>
          </a:prstGeom>
          <a:noFill/>
          <a:ln w="19050">
            <a:solidFill>
              <a:srgbClr val="8669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489200"/>
            <a:ext cx="388244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apps keep features apart.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2900679"/>
            <a:ext cx="0" cy="568960"/>
          </a:xfrm>
          <a:prstGeom prst="line">
            <a:avLst/>
          </a:prstGeom>
          <a:noFill/>
          <a:ln w="19050">
            <a:solidFill>
              <a:srgbClr val="866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2900679"/>
            <a:ext cx="388244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 hold the HTML; static files hold CSS and JavaScript.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7000" y="812800"/>
            <a:ext cx="6172200" cy="4147820"/>
          </a:xfrm>
          <a:prstGeom prst="roundRect">
            <a:avLst>
              <a:gd name="adj" fmla="val 3062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5511800" y="1117600"/>
            <a:ext cx="57294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VOYAGE/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5800" y="1541779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config/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23200" y="1541779"/>
            <a:ext cx="334873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Settings and project routing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5800" y="1965964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apps/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23200" y="1965964"/>
            <a:ext cx="334873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Django applications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1400" y="2390142"/>
            <a:ext cx="1962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8800" y="2390142"/>
            <a:ext cx="29824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Destinations, tours, site 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1400" y="3098800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booking/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78800" y="3098800"/>
            <a:ext cx="298246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and payment logic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5800" y="3522979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templates/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23200" y="3522979"/>
            <a:ext cx="334873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 pages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5800" y="3947164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static/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23200" y="3947164"/>
            <a:ext cx="334873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CSS, JavaScript, images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5800" y="4371342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manage.py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23200" y="4371342"/>
            <a:ext cx="334873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Django command-line tool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/ 20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Database Design and Models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62175"/>
            <a:ext cx="2152650" cy="1581150"/>
          </a:xfrm>
          <a:prstGeom prst="roundRect">
            <a:avLst>
              <a:gd name="adj" fmla="val 7831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341879"/>
            <a:ext cx="184703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Destination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661921"/>
            <a:ext cx="184703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Location, description, images and details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59175" y="2162175"/>
            <a:ext cx="2152650" cy="1581150"/>
          </a:xfrm>
          <a:prstGeom prst="roundRect">
            <a:avLst>
              <a:gd name="adj" fmla="val 7831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8880" y="2341879"/>
            <a:ext cx="184703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38880" y="2661921"/>
            <a:ext cx="184703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Price, duration, itinerary and seats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9200" y="2159000"/>
            <a:ext cx="2159000" cy="15875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0" y="2336800"/>
            <a:ext cx="18575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0" y="2656842"/>
            <a:ext cx="185750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Traveller details, dates, preferences, booking and payment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45575" y="2162175"/>
            <a:ext cx="2152650" cy="1581150"/>
          </a:xfrm>
          <a:prstGeom prst="roundRect">
            <a:avLst>
              <a:gd name="adj" fmla="val 7831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5280" y="2341879"/>
            <a:ext cx="184703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25280" y="2661921"/>
            <a:ext cx="184703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Django account, profile and journeys</a:t>
            </a:r>
            <a:endParaRPr lang="en-US" sz="120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1000" y="2901950"/>
            <a:ext cx="685800" cy="101600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4200" y="2901950"/>
            <a:ext cx="685800" cy="101600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07400" y="2901950"/>
            <a:ext cx="685800" cy="101600"/>
          </a:xfrm>
          <a:prstGeom prst="rect">
            <a:avLst/>
          </a:prstGeom>
        </p:spPr>
      </p:pic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27900" y="3695700"/>
            <a:ext cx="101600" cy="736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946400" y="2654300"/>
            <a:ext cx="63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689600" y="2654300"/>
            <a:ext cx="63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432800" y="2654300"/>
            <a:ext cx="63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3000" y="396240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302375" y="4384675"/>
            <a:ext cx="2152650" cy="1200150"/>
          </a:xfrm>
          <a:prstGeom prst="roundRect">
            <a:avLst>
              <a:gd name="adj" fmla="val 10317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82080" y="4564379"/>
            <a:ext cx="184703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482080" y="4884421"/>
            <a:ext cx="184703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 and traveller story for a booking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12800" y="4381500"/>
            <a:ext cx="4902200" cy="1206500"/>
          </a:xfrm>
          <a:prstGeom prst="roundRect">
            <a:avLst>
              <a:gd name="adj" fmla="val 10526"/>
            </a:avLst>
          </a:prstGeom>
          <a:solidFill>
            <a:srgbClr val="EDE6DA"/>
          </a:solidFill>
          <a:ln/>
        </p:spPr>
      </p:sp>
      <p:sp>
        <p:nvSpPr>
          <p:cNvPr id="28" name="Text 22"/>
          <p:cNvSpPr/>
          <p:nvPr/>
        </p:nvSpPr>
        <p:spPr>
          <a:xfrm>
            <a:off x="990600" y="4559300"/>
            <a:ext cx="468299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Site content models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90600" y="4879342"/>
            <a:ext cx="46829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SiteSettings · Experience · Testimonial · Blog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042400" y="4381500"/>
            <a:ext cx="222377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Django ORM maps each model to a database table.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20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WEBSITE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1531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Homepage and Website Experience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183515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cinematic hero, a clear call to action and a curated destination grid.</a:t>
            </a:r>
            <a:endParaRPr lang="en-US" sz="1600" dirty="0"/>
          </a:p>
        </p:txBody>
      </p:sp>
      <p:pic>
        <p:nvPicPr>
          <p:cNvPr id="7" name="Image 0" descr="VOYAGE homepage hero with the Begin Your Journey button">    </p:cNvPr>
          <p:cNvPicPr>
            <a:picLocks noChangeAspect="1"/>
          </p:cNvPicPr>
          <p:nvPr/>
        </p:nvPicPr>
        <p:blipFill>
          <a:blip r:embed="rId1"/>
          <a:srcRect l="35" r="35" t="0" b="0"/>
          <a:stretch/>
        </p:blipFill>
        <p:spPr>
          <a:xfrm>
            <a:off x="812800" y="2298700"/>
            <a:ext cx="6096000" cy="3429000"/>
          </a:xfrm>
          <a:prstGeom prst="roundRect">
            <a:avLst>
              <a:gd name="adj" fmla="val 2222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8000"/>
              </a:srgbClr>
            </a:outerShdw>
          </a:effectLst>
        </p:spPr>
      </p:pic>
      <p:pic>
        <p:nvPicPr>
          <p:cNvPr id="8" name="Image 1" descr="Homepage section: Where Will You Go, a grid of featured destinations">    </p:cNvPr>
          <p:cNvPicPr>
            <a:picLocks noChangeAspect="1"/>
          </p:cNvPicPr>
          <p:nvPr/>
        </p:nvPicPr>
        <p:blipFill>
          <a:blip r:embed="rId2"/>
          <a:srcRect l="5952" r="5400" t="0" b="0"/>
          <a:stretch/>
        </p:blipFill>
        <p:spPr>
          <a:xfrm>
            <a:off x="7061200" y="2298700"/>
            <a:ext cx="3429635" cy="3429000"/>
          </a:xfrm>
          <a:prstGeom prst="roundRect">
            <a:avLst>
              <a:gd name="adj" fmla="val 2222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DESTINATION PAGE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4"/>
            <a:ext cx="353187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Destination Discovery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2489200"/>
            <a:ext cx="0" cy="28448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489200"/>
            <a:ext cx="335920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browsing of destinations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2900679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2900679"/>
            <a:ext cx="33592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Editorial layout with a landmark collage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596642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596642"/>
            <a:ext cx="33592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pages with photos and information</a:t>
            </a:r>
            <a:endParaRPr lang="en-US" sz="1600" dirty="0"/>
          </a:p>
        </p:txBody>
      </p:sp>
      <p:pic>
        <p:nvPicPr>
          <p:cNvPr id="10" name="Image 0" descr="VOYAGE destinations page: Explore Extraordinary Places">    </p:cNvPr>
          <p:cNvPicPr>
            <a:picLocks noChangeAspect="1"/>
          </p:cNvPicPr>
          <p:nvPr/>
        </p:nvPicPr>
        <p:blipFill>
          <a:blip r:embed="rId1"/>
          <a:srcRect l="0" r="0" t="87" b="87"/>
          <a:stretch/>
        </p:blipFill>
        <p:spPr>
          <a:xfrm>
            <a:off x="4705350" y="819150"/>
            <a:ext cx="6337300" cy="3556000"/>
          </a:xfrm>
          <a:prstGeom prst="roundRect">
            <a:avLst>
              <a:gd name="adj" fmla="val 1964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6000"/>
              </a:srgbClr>
            </a:outerShdw>
          </a:effectLst>
        </p:spPr>
      </p:pic>
      <p:sp>
        <p:nvSpPr>
          <p:cNvPr id="11" name="Shape 8"/>
          <p:cNvSpPr/>
          <p:nvPr/>
        </p:nvSpPr>
        <p:spPr>
          <a:xfrm>
            <a:off x="4702175" y="815975"/>
            <a:ext cx="6343650" cy="3562350"/>
          </a:xfrm>
          <a:prstGeom prst="roundRect">
            <a:avLst>
              <a:gd name="adj" fmla="val 2050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9000" y="4508500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destinations page opens with an editorial split layout.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20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4664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TOURS PAGE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4"/>
            <a:ext cx="3466465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Tours and Travel Experiences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2489200"/>
            <a:ext cx="0" cy="568960"/>
          </a:xfrm>
          <a:prstGeom prst="line">
            <a:avLst/>
          </a:prstGeom>
          <a:noFill/>
          <a:ln w="19050">
            <a:solidFill>
              <a:srgbClr val="8669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489200"/>
            <a:ext cx="3293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cards with price, duration and seats left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3185164"/>
            <a:ext cx="0" cy="568960"/>
          </a:xfrm>
          <a:prstGeom prst="line">
            <a:avLst/>
          </a:prstGeom>
          <a:noFill/>
          <a:ln w="19050">
            <a:solidFill>
              <a:srgbClr val="866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3185164"/>
            <a:ext cx="3293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pages with a day-by-day timeline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881121"/>
            <a:ext cx="0" cy="284480"/>
          </a:xfrm>
          <a:prstGeom prst="line">
            <a:avLst/>
          </a:prstGeom>
          <a:noFill/>
          <a:ln w="19050">
            <a:solidFill>
              <a:srgbClr val="866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881121"/>
            <a:ext cx="329379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 now and wishlist actions</a:t>
            </a:r>
            <a:endParaRPr lang="en-US" sz="1600" dirty="0"/>
          </a:p>
        </p:txBody>
      </p:sp>
      <p:pic>
        <p:nvPicPr>
          <p:cNvPr id="10" name="Image 0" descr="Tours listing: Discover Your Next Journey with tour cards">    </p:cNvPr>
          <p:cNvPicPr>
            <a:picLocks noChangeAspect="1"/>
          </p:cNvPicPr>
          <p:nvPr/>
        </p:nvPicPr>
        <p:blipFill>
          <a:blip r:embed="rId1"/>
          <a:srcRect l="9" r="9" t="0" b="0"/>
          <a:stretch/>
        </p:blipFill>
        <p:spPr>
          <a:xfrm>
            <a:off x="4584700" y="812800"/>
            <a:ext cx="2686050" cy="4064000"/>
          </a:xfrm>
          <a:prstGeom prst="roundRect">
            <a:avLst>
              <a:gd name="adj" fmla="val 2837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8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4584700" y="4978400"/>
            <a:ext cx="27666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listing</a:t>
            </a:r>
            <a:endParaRPr lang="en-US" sz="1200" dirty="0"/>
          </a:p>
        </p:txBody>
      </p:sp>
      <p:pic>
        <p:nvPicPr>
          <p:cNvPr id="12" name="Image 1" descr="Amalfi Coast Culinary Journey tour detail page">    </p:cNvPr>
          <p:cNvPicPr>
            <a:picLocks noChangeAspect="1"/>
          </p:cNvPicPr>
          <p:nvPr/>
        </p:nvPicPr>
        <p:blipFill>
          <a:blip r:embed="rId2"/>
          <a:srcRect l="33" r="33" t="0" b="0"/>
          <a:stretch/>
        </p:blipFill>
        <p:spPr>
          <a:xfrm>
            <a:off x="7677150" y="812800"/>
            <a:ext cx="3898900" cy="4064000"/>
          </a:xfrm>
          <a:prstGeom prst="roundRect">
            <a:avLst>
              <a:gd name="adj" fmla="val 1954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8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7677150" y="4978400"/>
            <a:ext cx="40158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Amalfi Coast Culinary Journey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20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CHOOSING THE JOURNEY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4"/>
            <a:ext cx="340106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Booking and Trip Personalization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248920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489200"/>
            <a:ext cx="32283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a curated tour or a personalised journey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3185164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3185164"/>
            <a:ext cx="32283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dates, travellers, style and budget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881121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881121"/>
            <a:ext cx="32283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everything before sending</a:t>
            </a:r>
            <a:endParaRPr lang="en-US" sz="1600" dirty="0"/>
          </a:p>
        </p:txBody>
      </p:sp>
      <p:pic>
        <p:nvPicPr>
          <p:cNvPr id="10" name="Image 0" descr="Booking step 1: How would you like to travel">    </p:cNvPr>
          <p:cNvPicPr>
            <a:picLocks noChangeAspect="1"/>
          </p:cNvPicPr>
          <p:nvPr/>
        </p:nvPicPr>
        <p:blipFill>
          <a:blip r:embed="rId1"/>
          <a:srcRect l="0" r="0" t="19" b="19"/>
          <a:stretch/>
        </p:blipFill>
        <p:spPr>
          <a:xfrm>
            <a:off x="4527550" y="819150"/>
            <a:ext cx="3727450" cy="4051300"/>
          </a:xfrm>
          <a:prstGeom prst="roundRect">
            <a:avLst>
              <a:gd name="adj" fmla="val 1874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6000"/>
              </a:srgbClr>
            </a:outerShdw>
          </a:effectLst>
        </p:spPr>
      </p:pic>
      <p:sp>
        <p:nvSpPr>
          <p:cNvPr id="11" name="Shape 8"/>
          <p:cNvSpPr/>
          <p:nvPr/>
        </p:nvSpPr>
        <p:spPr>
          <a:xfrm>
            <a:off x="4524375" y="815975"/>
            <a:ext cx="3733800" cy="4057650"/>
          </a:xfrm>
          <a:prstGeom prst="roundRect">
            <a:avLst>
              <a:gd name="adj" fmla="val 1956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1200" y="4978400"/>
            <a:ext cx="38523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1: choose how to travel</a:t>
            </a:r>
            <a:endParaRPr lang="en-US" sz="1200" dirty="0"/>
          </a:p>
        </p:txBody>
      </p:sp>
      <p:pic>
        <p:nvPicPr>
          <p:cNvPr id="13" name="Image 1" descr="Booking review step: Your journey at a glance">    </p:cNvPr>
          <p:cNvPicPr>
            <a:picLocks noChangeAspect="1"/>
          </p:cNvPicPr>
          <p:nvPr/>
        </p:nvPicPr>
        <p:blipFill>
          <a:blip r:embed="rId2"/>
          <a:srcRect l="19" r="19" t="0" b="0"/>
          <a:stretch/>
        </p:blipFill>
        <p:spPr>
          <a:xfrm>
            <a:off x="8674100" y="819150"/>
            <a:ext cx="2882900" cy="4051300"/>
          </a:xfrm>
          <a:prstGeom prst="roundRect">
            <a:avLst>
              <a:gd name="adj" fmla="val 2423"/>
            </a:avLst>
          </a:prstGeom>
          <a:effectLst>
            <a:outerShdw sx="100000" sy="100000" kx="0" ky="0" algn="bl" rotWithShape="0" blurRad="254000" dist="101600" dir="5400000">
              <a:srgbClr val="1C1C1C">
                <a:alpha val="16000"/>
              </a:srgbClr>
            </a:outerShdw>
          </a:effectLst>
        </p:spPr>
      </p:pic>
      <p:sp>
        <p:nvSpPr>
          <p:cNvPr id="14" name="Shape 10"/>
          <p:cNvSpPr/>
          <p:nvPr/>
        </p:nvSpPr>
        <p:spPr>
          <a:xfrm>
            <a:off x="8670925" y="815975"/>
            <a:ext cx="2889250" cy="4057650"/>
          </a:xfrm>
          <a:prstGeom prst="roundRect">
            <a:avLst>
              <a:gd name="adj" fmla="val 2527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67750" y="4978400"/>
            <a:ext cx="2982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review step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20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&amp; BOOKING FLOW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Payment and Booking Confirmation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3387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simulated payment workflow: no real money is transferred.</a:t>
            </a:r>
            <a:endParaRPr lang="en-US" sz="1600" dirty="0"/>
          </a:p>
        </p:txBody>
      </p:sp>
      <p:pic>
        <p:nvPicPr>
          <p:cNvPr id="5" name="Image 0" descr="Booking overview page with reference, status and total">    </p:cNvPr>
          <p:cNvPicPr>
            <a:picLocks noChangeAspect="1"/>
          </p:cNvPicPr>
          <p:nvPr/>
        </p:nvPicPr>
        <p:blipFill>
          <a:blip r:embed="rId1"/>
          <a:srcRect l="166" r="166" t="0" b="0"/>
          <a:stretch/>
        </p:blipFill>
        <p:spPr>
          <a:xfrm>
            <a:off x="819150" y="2302514"/>
            <a:ext cx="1841500" cy="2844800"/>
          </a:xfrm>
          <a:prstGeom prst="roundRect">
            <a:avLst>
              <a:gd name="adj" fmla="val 3793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15975" y="2299339"/>
            <a:ext cx="1847850" cy="2851150"/>
          </a:xfrm>
          <a:prstGeom prst="roundRect">
            <a:avLst>
              <a:gd name="adj" fmla="val 3952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255264"/>
            <a:ext cx="1909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Booking overview</a:t>
            </a:r>
            <a:endParaRPr lang="en-US" sz="1200" dirty="0"/>
          </a:p>
        </p:txBody>
      </p:sp>
      <p:pic>
        <p:nvPicPr>
          <p:cNvPr id="8" name="Image 1" descr="Payment page: One final step, with card and UPI option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76550" y="2302514"/>
            <a:ext cx="2641600" cy="2844800"/>
          </a:xfrm>
          <a:prstGeom prst="roundRect">
            <a:avLst>
              <a:gd name="adj" fmla="val 2644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2873375" y="2299339"/>
            <a:ext cx="2647950" cy="2851150"/>
          </a:xfrm>
          <a:prstGeom prst="roundRect">
            <a:avLst>
              <a:gd name="adj" fmla="val 2758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70200" y="5255264"/>
            <a:ext cx="27339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Payment method</a:t>
            </a:r>
            <a:endParaRPr lang="en-US" sz="1200" dirty="0"/>
          </a:p>
        </p:txBody>
      </p:sp>
      <p:pic>
        <p:nvPicPr>
          <p:cNvPr id="11" name="Image 2" descr="Verifying your payment processing screen">    </p:cNvPr>
          <p:cNvPicPr>
            <a:picLocks noChangeAspect="1"/>
          </p:cNvPicPr>
          <p:nvPr/>
        </p:nvPicPr>
        <p:blipFill>
          <a:blip r:embed="rId3"/>
          <a:srcRect l="73" r="73" t="0" b="0"/>
          <a:stretch/>
        </p:blipFill>
        <p:spPr>
          <a:xfrm>
            <a:off x="5734050" y="2302514"/>
            <a:ext cx="2597150" cy="2844800"/>
          </a:xfrm>
          <a:prstGeom prst="roundRect">
            <a:avLst>
              <a:gd name="adj" fmla="val 2689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12" name="Shape 7"/>
          <p:cNvSpPr/>
          <p:nvPr/>
        </p:nvSpPr>
        <p:spPr>
          <a:xfrm>
            <a:off x="5730875" y="2299339"/>
            <a:ext cx="2603500" cy="2851150"/>
          </a:xfrm>
          <a:prstGeom prst="roundRect">
            <a:avLst>
              <a:gd name="adj" fmla="val 2805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27700" y="5255264"/>
            <a:ext cx="26881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Verifying payment</a:t>
            </a:r>
            <a:endParaRPr lang="en-US" sz="1200" dirty="0"/>
          </a:p>
        </p:txBody>
      </p:sp>
      <p:pic>
        <p:nvPicPr>
          <p:cNvPr id="14" name="Image 3" descr="Journey confirmed page: You're going">    </p:cNvPr>
          <p:cNvPicPr>
            <a:picLocks noChangeAspect="1"/>
          </p:cNvPicPr>
          <p:nvPr/>
        </p:nvPicPr>
        <p:blipFill>
          <a:blip r:embed="rId4"/>
          <a:srcRect l="0" r="0" t="20" b="20"/>
          <a:stretch/>
        </p:blipFill>
        <p:spPr>
          <a:xfrm>
            <a:off x="8547100" y="2302514"/>
            <a:ext cx="2762250" cy="2844800"/>
          </a:xfrm>
          <a:prstGeom prst="roundRect">
            <a:avLst>
              <a:gd name="adj" fmla="val 2529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15" name="Shape 9"/>
          <p:cNvSpPr/>
          <p:nvPr/>
        </p:nvSpPr>
        <p:spPr>
          <a:xfrm>
            <a:off x="8543925" y="2299339"/>
            <a:ext cx="2768600" cy="2851150"/>
          </a:xfrm>
          <a:prstGeom prst="roundRect">
            <a:avLst>
              <a:gd name="adj" fmla="val 2638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540750" y="5255264"/>
            <a:ext cx="28581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Journey confirmed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20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28778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ACCPOMTS &amp; PROFILE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68127"/>
            <a:ext cx="2877820" cy="1534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User Accounts and Trip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3205485"/>
            <a:ext cx="0" cy="28448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3205485"/>
            <a:ext cx="270515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Registration and login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3591558"/>
            <a:ext cx="0" cy="28448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3591558"/>
            <a:ext cx="270515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and booking history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977642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977642"/>
            <a:ext cx="27051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Journey archive with reviews</a:t>
            </a:r>
            <a:endParaRPr lang="en-US" sz="1600" dirty="0"/>
          </a:p>
        </p:txBody>
      </p:sp>
      <p:pic>
        <p:nvPicPr>
          <p:cNvPr id="10" name="Image 0" descr="Login page: Continue your journey">    </p:cNvPr>
          <p:cNvPicPr>
            <a:picLocks noChangeAspect="1"/>
          </p:cNvPicPr>
          <p:nvPr/>
        </p:nvPicPr>
        <p:blipFill>
          <a:blip r:embed="rId1"/>
          <a:srcRect l="0" r="0" t="696" b="696"/>
          <a:stretch/>
        </p:blipFill>
        <p:spPr>
          <a:xfrm>
            <a:off x="4019550" y="819150"/>
            <a:ext cx="3594100" cy="1790700"/>
          </a:xfrm>
          <a:prstGeom prst="roundRect">
            <a:avLst>
              <a:gd name="adj" fmla="val 3901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4000"/>
              </a:srgbClr>
            </a:outerShdw>
          </a:effectLst>
        </p:spPr>
      </p:pic>
      <p:sp>
        <p:nvSpPr>
          <p:cNvPr id="11" name="Shape 8"/>
          <p:cNvSpPr/>
          <p:nvPr/>
        </p:nvSpPr>
        <p:spPr>
          <a:xfrm>
            <a:off x="4016375" y="815975"/>
            <a:ext cx="3600450" cy="1797050"/>
          </a:xfrm>
          <a:prstGeom prst="roundRect">
            <a:avLst>
              <a:gd name="adj" fmla="val 4064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13200" y="26924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</a:t>
            </a:r>
            <a:endParaRPr lang="en-US" sz="1200" dirty="0"/>
          </a:p>
        </p:txBody>
      </p:sp>
      <p:pic>
        <p:nvPicPr>
          <p:cNvPr id="13" name="Image 1" descr="Registration page: Create your account">    </p:cNvPr>
          <p:cNvPicPr>
            <a:picLocks noChangeAspect="1"/>
          </p:cNvPicPr>
          <p:nvPr/>
        </p:nvPicPr>
        <p:blipFill>
          <a:blip r:embed="rId2"/>
          <a:srcRect l="0" r="0" t="6536" b="6536"/>
          <a:stretch/>
        </p:blipFill>
        <p:spPr>
          <a:xfrm>
            <a:off x="7778750" y="819150"/>
            <a:ext cx="3594100" cy="1790700"/>
          </a:xfrm>
          <a:prstGeom prst="roundRect">
            <a:avLst>
              <a:gd name="adj" fmla="val 3901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4000"/>
              </a:srgbClr>
            </a:outerShdw>
          </a:effectLst>
        </p:spPr>
      </p:pic>
      <p:sp>
        <p:nvSpPr>
          <p:cNvPr id="14" name="Shape 10"/>
          <p:cNvSpPr/>
          <p:nvPr/>
        </p:nvSpPr>
        <p:spPr>
          <a:xfrm>
            <a:off x="7775575" y="815975"/>
            <a:ext cx="3600450" cy="1797050"/>
          </a:xfrm>
          <a:prstGeom prst="roundRect">
            <a:avLst>
              <a:gd name="adj" fmla="val 4064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0" y="26924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Registration</a:t>
            </a:r>
            <a:endParaRPr lang="en-US" sz="1200" dirty="0"/>
          </a:p>
        </p:txBody>
      </p:sp>
      <p:pic>
        <p:nvPicPr>
          <p:cNvPr id="16" name="Image 2" descr="Profile page: Welcome with profile completion">    </p:cNvPr>
          <p:cNvPicPr>
            <a:picLocks noChangeAspect="1"/>
          </p:cNvPicPr>
          <p:nvPr/>
        </p:nvPicPr>
        <p:blipFill>
          <a:blip r:embed="rId3"/>
          <a:srcRect l="0" r="0" t="747" b="747"/>
          <a:stretch/>
        </p:blipFill>
        <p:spPr>
          <a:xfrm>
            <a:off x="4019550" y="3064508"/>
            <a:ext cx="3594100" cy="1790700"/>
          </a:xfrm>
          <a:prstGeom prst="roundRect">
            <a:avLst>
              <a:gd name="adj" fmla="val 3901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4000"/>
              </a:srgbClr>
            </a:outerShdw>
          </a:effectLst>
        </p:spPr>
      </p:pic>
      <p:sp>
        <p:nvSpPr>
          <p:cNvPr id="17" name="Shape 12"/>
          <p:cNvSpPr/>
          <p:nvPr/>
        </p:nvSpPr>
        <p:spPr>
          <a:xfrm>
            <a:off x="4016375" y="3061333"/>
            <a:ext cx="3600450" cy="1797050"/>
          </a:xfrm>
          <a:prstGeom prst="roundRect">
            <a:avLst>
              <a:gd name="adj" fmla="val 4064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013200" y="4937758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overview</a:t>
            </a:r>
            <a:endParaRPr lang="en-US" sz="1200" dirty="0"/>
          </a:p>
        </p:txBody>
      </p:sp>
      <p:pic>
        <p:nvPicPr>
          <p:cNvPr id="19" name="Image 3" descr="Journeys page: Places you've chosen, listing bookings">    </p:cNvPr>
          <p:cNvPicPr>
            <a:picLocks noChangeAspect="1"/>
          </p:cNvPicPr>
          <p:nvPr/>
        </p:nvPicPr>
        <p:blipFill>
          <a:blip r:embed="rId4"/>
          <a:srcRect l="3995" r="3995" t="0" b="0"/>
          <a:stretch/>
        </p:blipFill>
        <p:spPr>
          <a:xfrm>
            <a:off x="7778750" y="3064508"/>
            <a:ext cx="3594100" cy="1790700"/>
          </a:xfrm>
          <a:prstGeom prst="roundRect">
            <a:avLst>
              <a:gd name="adj" fmla="val 3901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4000"/>
              </a:srgbClr>
            </a:outerShdw>
          </a:effectLst>
        </p:spPr>
      </p:pic>
      <p:sp>
        <p:nvSpPr>
          <p:cNvPr id="20" name="Shape 14"/>
          <p:cNvSpPr/>
          <p:nvPr/>
        </p:nvSpPr>
        <p:spPr>
          <a:xfrm>
            <a:off x="7775575" y="3061333"/>
            <a:ext cx="3600450" cy="1797050"/>
          </a:xfrm>
          <a:prstGeom prst="roundRect">
            <a:avLst>
              <a:gd name="adj" fmla="val 4064"/>
            </a:avLst>
          </a:prstGeom>
          <a:noFill/>
          <a:ln w="6350">
            <a:solidFill>
              <a:srgbClr val="D9CFB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0" y="4937758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Journey timeline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20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38719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54758"/>
            <a:ext cx="3871976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7F3E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Backend Administration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325" y="248920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2489200"/>
            <a:ext cx="36993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booking and payment status from one list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3185158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3185158"/>
            <a:ext cx="36993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 the About page and site content without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325" y="3881127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440" y="3881127"/>
            <a:ext cx="36993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contact messages from travellers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678685"/>
            <a:ext cx="38719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Django’s built-in admin, managing 14 models including Users, Bookings, Destinations and Tours.</a:t>
            </a:r>
            <a:endParaRPr lang="en-US" sz="1200" dirty="0"/>
          </a:p>
        </p:txBody>
      </p:sp>
      <p:pic>
        <p:nvPicPr>
          <p:cNvPr id="13" name="Image 0" descr="Django admin Bookings list with editable booking, payment and invoice status">    </p:cNvPr>
          <p:cNvPicPr>
            <a:picLocks noChangeAspect="1"/>
          </p:cNvPicPr>
          <p:nvPr/>
        </p:nvPicPr>
        <p:blipFill>
          <a:blip r:embed="rId1"/>
          <a:srcRect l="0" r="0" t="90" b="90"/>
          <a:stretch/>
        </p:blipFill>
        <p:spPr>
          <a:xfrm>
            <a:off x="5035550" y="819150"/>
            <a:ext cx="6337300" cy="3187700"/>
          </a:xfrm>
          <a:prstGeom prst="roundRect">
            <a:avLst>
              <a:gd name="adj" fmla="val 2191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5032375" y="815975"/>
            <a:ext cx="6343650" cy="3194050"/>
          </a:xfrm>
          <a:prstGeom prst="roundRect">
            <a:avLst>
              <a:gd name="adj" fmla="val 2286"/>
            </a:avLst>
          </a:prstGeom>
          <a:noFill/>
          <a:ln w="6350">
            <a:solidFill>
              <a:srgbClr val="3A3733"/>
            </a:solidFill>
            <a:prstDash val="solid"/>
          </a:ln>
        </p:spPr>
      </p:sp>
      <p:pic>
        <p:nvPicPr>
          <p:cNvPr id="15" name="Image 1" descr="Django admin Contact messages list">    </p:cNvPr>
          <p:cNvPicPr>
            <a:picLocks noChangeAspect="1"/>
          </p:cNvPicPr>
          <p:nvPr/>
        </p:nvPicPr>
        <p:blipFill>
          <a:blip r:embed="rId2"/>
          <a:srcRect l="0" r="0" t="289" b="289"/>
          <a:stretch/>
        </p:blipFill>
        <p:spPr>
          <a:xfrm>
            <a:off x="8286750" y="4483100"/>
            <a:ext cx="3086100" cy="1555750"/>
          </a:xfrm>
          <a:prstGeom prst="roundRect">
            <a:avLst>
              <a:gd name="adj" fmla="val 4490"/>
            </a:avLst>
          </a:prstGeom>
        </p:spPr>
      </p:pic>
      <p:sp>
        <p:nvSpPr>
          <p:cNvPr id="16" name="Shape 12"/>
          <p:cNvSpPr/>
          <p:nvPr/>
        </p:nvSpPr>
        <p:spPr>
          <a:xfrm>
            <a:off x="8283575" y="4479925"/>
            <a:ext cx="3092450" cy="1562100"/>
          </a:xfrm>
          <a:prstGeom prst="roundRect">
            <a:avLst>
              <a:gd name="adj" fmla="val 4675"/>
            </a:avLst>
          </a:prstGeom>
          <a:noFill/>
          <a:ln w="6350">
            <a:solidFill>
              <a:srgbClr val="3A3733"/>
            </a:solidFill>
            <a:prstDash val="solid"/>
          </a:ln>
        </p:spPr>
      </p:sp>
      <p:pic>
        <p:nvPicPr>
          <p:cNvPr id="17" name="Image 2" descr="Django admin Change About Page form">    </p:cNvPr>
          <p:cNvPicPr>
            <a:picLocks noChangeAspect="1"/>
          </p:cNvPicPr>
          <p:nvPr/>
        </p:nvPicPr>
        <p:blipFill>
          <a:blip r:embed="rId3"/>
          <a:srcRect l="0" r="0" t="237" b="237"/>
          <a:stretch/>
        </p:blipFill>
        <p:spPr>
          <a:xfrm>
            <a:off x="5035550" y="4483100"/>
            <a:ext cx="3086100" cy="1555750"/>
          </a:xfrm>
          <a:prstGeom prst="roundRect">
            <a:avLst>
              <a:gd name="adj" fmla="val 4490"/>
            </a:avLst>
          </a:prstGeom>
        </p:spPr>
      </p:pic>
      <p:sp>
        <p:nvSpPr>
          <p:cNvPr id="18" name="Shape 13"/>
          <p:cNvSpPr/>
          <p:nvPr/>
        </p:nvSpPr>
        <p:spPr>
          <a:xfrm>
            <a:off x="5032375" y="4479925"/>
            <a:ext cx="3092450" cy="1562100"/>
          </a:xfrm>
          <a:prstGeom prst="roundRect">
            <a:avLst>
              <a:gd name="adj" fmla="val 4675"/>
            </a:avLst>
          </a:prstGeom>
          <a:noFill/>
          <a:ln w="6350">
            <a:solidFill>
              <a:srgbClr val="3A373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DESIGEN AND LOOKS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1531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UI/UX Design and Supporting Pages</a:t>
            </a:r>
            <a:endParaRPr lang="en-US" sz="3600" dirty="0"/>
          </a:p>
        </p:txBody>
      </p:sp>
      <p:pic>
        <p:nvPicPr>
          <p:cNvPr id="6" name="Image 0" descr="About page: What We Believe">    </p:cNvPr>
          <p:cNvPicPr>
            <a:picLocks noChangeAspect="1"/>
          </p:cNvPicPr>
          <p:nvPr/>
        </p:nvPicPr>
        <p:blipFill>
          <a:blip r:embed="rId1"/>
          <a:srcRect l="2599" r="2599" t="0" b="0"/>
          <a:stretch/>
        </p:blipFill>
        <p:spPr>
          <a:xfrm>
            <a:off x="812800" y="1962150"/>
            <a:ext cx="3384550" cy="2159000"/>
          </a:xfrm>
          <a:prstGeom prst="roundRect">
            <a:avLst>
              <a:gd name="adj" fmla="val 3529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12800" y="4222750"/>
            <a:ext cx="348608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About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2800" y="4659635"/>
            <a:ext cx="34860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story, mission and core values</a:t>
            </a:r>
            <a:endParaRPr lang="en-US" sz="1600" dirty="0"/>
          </a:p>
        </p:txBody>
      </p:sp>
      <p:pic>
        <p:nvPicPr>
          <p:cNvPr id="9" name="Image 1" descr="Contact page: Let's Plan Your Next Journey">    </p:cNvPr>
          <p:cNvPicPr>
            <a:picLocks noChangeAspect="1"/>
          </p:cNvPicPr>
          <p:nvPr/>
        </p:nvPicPr>
        <p:blipFill>
          <a:blip r:embed="rId2"/>
          <a:srcRect l="0" r="0" t="3828" b="3828"/>
          <a:stretch/>
        </p:blipFill>
        <p:spPr>
          <a:xfrm>
            <a:off x="4400550" y="1962150"/>
            <a:ext cx="3384550" cy="2159000"/>
          </a:xfrm>
          <a:prstGeom prst="roundRect">
            <a:avLst>
              <a:gd name="adj" fmla="val 3529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400550" y="4222750"/>
            <a:ext cx="348608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Contact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400550" y="4659635"/>
            <a:ext cx="348608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enquiry form with contact details</a:t>
            </a:r>
            <a:endParaRPr lang="en-US" sz="1600" dirty="0"/>
          </a:p>
        </p:txBody>
      </p:sp>
      <p:pic>
        <p:nvPicPr>
          <p:cNvPr id="12" name="Image 2" descr="Traveller stories: Loved by Explorers, with star ratings">    </p:cNvPr>
          <p:cNvPicPr>
            <a:picLocks noChangeAspect="1"/>
          </p:cNvPicPr>
          <p:nvPr/>
        </p:nvPicPr>
        <p:blipFill>
          <a:blip r:embed="rId3"/>
          <a:srcRect l="0" r="23347" t="0" b="0"/>
          <a:stretch/>
        </p:blipFill>
        <p:spPr>
          <a:xfrm>
            <a:off x="7988300" y="1962150"/>
            <a:ext cx="3384550" cy="2159000"/>
          </a:xfrm>
          <a:prstGeom prst="roundRect">
            <a:avLst>
              <a:gd name="adj" fmla="val 3529"/>
            </a:avLst>
          </a:prstGeom>
          <a:effectLst>
            <a:outerShdw sx="100000" sy="100000" kx="0" ky="0" algn="bl" rotWithShape="0" blurRad="203200" dist="76200" dir="5400000">
              <a:srgbClr val="1C1C1C">
                <a:alpha val="16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7988300" y="4222750"/>
            <a:ext cx="348608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Reviews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88300" y="4659635"/>
            <a:ext cx="348608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 ratings and traveller stories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939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C1C1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Testing, Challenges and 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50702"/>
            <a:ext cx="3383677" cy="3356610"/>
          </a:xfrm>
          <a:prstGeom prst="roundRect">
            <a:avLst>
              <a:gd name="adj" fmla="val 3689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00660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1880" y="2514600"/>
            <a:ext cx="295802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Tested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1880" y="3002285"/>
            <a:ext cx="295802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flow: tour, booking, payment, confirmation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880" y="3652527"/>
            <a:ext cx="295802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and payment status at each step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1880" y="4302758"/>
            <a:ext cx="295802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Journeys and reviews shown on the profile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09202" y="1750702"/>
            <a:ext cx="3383756" cy="3356610"/>
          </a:xfrm>
          <a:prstGeom prst="roundRect">
            <a:avLst>
              <a:gd name="adj" fmla="val 3689"/>
            </a:avLst>
          </a:prstGeom>
          <a:solidFill>
            <a:srgbClr val="FBF8F2"/>
          </a:solidFill>
          <a:ln w="6350">
            <a:solidFill>
              <a:srgbClr val="D9CFBC"/>
            </a:solidFill>
            <a:prstDash val="solid"/>
          </a:ln>
        </p:spPr>
      </p:sp>
      <p:pic>
        <p:nvPicPr>
          <p:cNvPr id="10" name="Image 1" descr="Wren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5107" y="2006600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5107" y="2514600"/>
            <a:ext cx="295810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6692F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Challenges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665107" y="3002285"/>
            <a:ext cx="295810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Separating booking status from payment status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5107" y="3652527"/>
            <a:ext cx="295810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premium design across many pages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5107" y="4302758"/>
            <a:ext cx="295810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Modelling a multi-step booking in Django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99333" y="1747527"/>
            <a:ext cx="3379867" cy="3352800"/>
          </a:xfrm>
          <a:prstGeom prst="roundRect">
            <a:avLst>
              <a:gd name="adj" fmla="val 3788"/>
            </a:avLst>
          </a:prstGeom>
          <a:solidFill>
            <a:srgbClr val="1C1C1C"/>
          </a:solidFill>
          <a:ln/>
        </p:spPr>
      </p:sp>
      <p:pic>
        <p:nvPicPr>
          <p:cNvPr id="16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3333" y="2001527"/>
            <a:ext cx="355600" cy="355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3333" y="2509527"/>
            <a:ext cx="295802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9A96E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Future scope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253333" y="2997200"/>
            <a:ext cx="295802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payment gateway and email notifications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53333" y="3647442"/>
            <a:ext cx="295802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tests and production deployment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53333" y="4297685"/>
            <a:ext cx="2958023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Smarter trip planning and booking reports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866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497078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0" i="0" dirty="0">
                <a:solidFill>
                  <a:srgbClr val="F7F3EC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Thank You </a:t>
            </a:r>
            <a:r>
              <a:rPr lang="en-US" sz="6000" b="0" i="1" dirty="0">
                <a:solidFill>
                  <a:srgbClr val="C9A96E"/>
                </a:solidFill>
                <a:latin typeface="Cormorant Garamond" pitchFamily="18" charset="0"/>
                <a:ea typeface="Cormorant Garamond" pitchFamily="18" charset="-122"/>
                <a:cs typeface="Cormorant Garamond" pitchFamily="18" charset="-120"/>
              </a:rPr>
              <a:t>Questions?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22325" y="2956558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956558"/>
            <a:ext cx="4798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full-stack travel agency website built with Django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325" y="3652527"/>
            <a:ext cx="0" cy="28448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440" y="3652527"/>
            <a:ext cx="479811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Discovery, booking and accounts on one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325" y="4064000"/>
            <a:ext cx="0" cy="56896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440" y="4064000"/>
            <a:ext cx="47981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Next: a real payment gateway and automated tests</a:t>
            </a:r>
            <a:endParaRPr lang="en-US" sz="1600" dirty="0"/>
          </a:p>
        </p:txBody>
      </p:sp>
      <p:pic>
        <p:nvPicPr>
          <p:cNvPr id="10" name="Image 0" descr="VOYAGE booking confirmation: Your journey begins here">    </p:cNvPr>
          <p:cNvPicPr>
            <a:picLocks noChangeAspect="1"/>
          </p:cNvPicPr>
          <p:nvPr/>
        </p:nvPicPr>
        <p:blipFill>
          <a:blip r:embed="rId1"/>
          <a:srcRect l="21249" r="21249" t="0" b="0"/>
          <a:stretch/>
        </p:blipFill>
        <p:spPr>
          <a:xfrm>
            <a:off x="6096000" y="812800"/>
            <a:ext cx="5283200" cy="5029200"/>
          </a:xfrm>
          <a:prstGeom prst="roundRect">
            <a:avLst>
              <a:gd name="adj" fmla="val 1515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812800" y="62382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C9A9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 · CURATED JOURNEYS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08950" y="6238242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8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YAGE — Curated Journeys">
  <a:themeElements>
    <a:clrScheme name="VOYAGE — Curated Journeys">
      <a:dk1>
        <a:srgbClr val="1C1C1C"/>
      </a:dk1>
      <a:lt1>
        <a:srgbClr val="F7F3EC"/>
      </a:lt1>
      <a:dk2>
        <a:srgbClr val="535250"/>
      </a:dk2>
      <a:lt2>
        <a:srgbClr val="E1DED7"/>
      </a:lt2>
      <a:accent1>
        <a:srgbClr val="86692F"/>
      </a:accent1>
      <a:accent2>
        <a:srgbClr val="C9A96E"/>
      </a:accent2>
      <a:accent3>
        <a:srgbClr val="4A463F"/>
      </a:accent3>
      <a:accent4>
        <a:srgbClr val="CFC8BA"/>
      </a:accent4>
      <a:accent5>
        <a:srgbClr val="5F5A50"/>
      </a:accent5>
      <a:accent6>
        <a:srgbClr val="9AA0A6"/>
      </a:accent6>
      <a:hlink>
        <a:srgbClr val="0563C1"/>
      </a:hlink>
      <a:folHlink>
        <a:srgbClr val="954F72"/>
      </a:folHlink>
    </a:clrScheme>
    <a:fontScheme name="VOYAGE — Curated Journeys">
      <a:majorFont>
        <a:latin typeface="Cormorant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VOYAGE — Curated Journeys</dc:title>
  <dc:subject/>
  <dc:creator/>
  <cp:lastModifiedBy/>
  <cp:revision>1</cp:revision>
  <dcterms:created xsi:type="dcterms:W3CDTF">2026-10-18T08:57:10Z</dcterms:created>
  <dcterms:modified xsi:type="dcterms:W3CDTF">2026-10-18T08:57:10Z</dcterms:modified>
</cp:coreProperties>
</file>